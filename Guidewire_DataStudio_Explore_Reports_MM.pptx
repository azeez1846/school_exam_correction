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4F8"/>
        </a:solidFill>
        <a:effectLst/>
      </p:bgPr>
    </p:bg>
    <p:spTree>
      <p:nvGrpSpPr>
        <p:cNvPr id="1" name=""/>
        <p:cNvGrpSpPr/>
        <p:nvPr/>
      </p:nvGrpSpPr>
      <p:grpSpPr/>
      <p:sp>
        <p:nvSpPr>
          <p:cNvPr id="2" name="TextBox 1"/>
          <p:cNvSpPr txBox="1"/>
          <p:nvPr/>
        </p:nvSpPr>
        <p:spPr>
          <a:xfrm>
            <a:off x="457200" y="292608"/>
            <a:ext cx="11277295" cy="594360"/>
          </a:xfrm>
          <a:prstGeom prst="rect">
            <a:avLst/>
          </a:prstGeom>
          <a:noFill/>
        </p:spPr>
        <p:txBody>
          <a:bodyPr wrap="square" lIns="0" rIns="0" tIns="0" bIns="0">
            <a:spAutoFit/>
          </a:bodyPr>
          <a:lstStyle/>
          <a:p>
            <a:pPr algn="ctr"/>
            <a:r>
              <a:rPr sz="2450" b="1">
                <a:solidFill>
                  <a:srgbClr val="1E1D24"/>
                </a:solidFill>
                <a:latin typeface="Calibri"/>
              </a:rPr>
              <a:t>Enabled Data Studio &amp; Explore for Improved Salesflow Reporting</a:t>
            </a:r>
          </a:p>
        </p:txBody>
      </p:sp>
      <p:sp>
        <p:nvSpPr>
          <p:cNvPr id="3" name="TextBox 2"/>
          <p:cNvSpPr txBox="1"/>
          <p:nvPr/>
        </p:nvSpPr>
        <p:spPr>
          <a:xfrm>
            <a:off x="530352" y="1060704"/>
            <a:ext cx="6784848" cy="274320"/>
          </a:xfrm>
          <a:prstGeom prst="rect">
            <a:avLst/>
          </a:prstGeom>
          <a:noFill/>
        </p:spPr>
        <p:txBody>
          <a:bodyPr wrap="square" lIns="0" rIns="0" tIns="0" bIns="0">
            <a:spAutoFit/>
          </a:bodyPr>
          <a:lstStyle/>
          <a:p>
            <a:r>
              <a:rPr sz="1350" b="1">
                <a:solidFill>
                  <a:srgbClr val="6E256B"/>
                </a:solidFill>
                <a:latin typeface="Calibri"/>
              </a:rPr>
              <a:t>BUSINESS PROBLEM</a:t>
            </a:r>
          </a:p>
        </p:txBody>
      </p:sp>
      <p:sp>
        <p:nvSpPr>
          <p:cNvPr id="4" name="Rectangle 3"/>
          <p:cNvSpPr/>
          <p:nvPr/>
        </p:nvSpPr>
        <p:spPr>
          <a:xfrm>
            <a:off x="530352" y="1325880"/>
            <a:ext cx="6784848" cy="13716"/>
          </a:xfrm>
          <a:prstGeom prst="rect">
            <a:avLst/>
          </a:prstGeom>
          <a:solidFill>
            <a:srgbClr val="D5C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1408176"/>
            <a:ext cx="6784848" cy="1371600"/>
          </a:xfrm>
          <a:prstGeom prst="rect">
            <a:avLst/>
          </a:prstGeom>
          <a:noFill/>
        </p:spPr>
        <p:txBody>
          <a:bodyPr wrap="square" lIns="0" rIns="0" tIns="0" bIns="0">
            <a:spAutoFit/>
          </a:bodyPr>
          <a:lstStyle/>
          <a:p>
            <a:pPr>
              <a:lnSpc>
                <a:spcPct val="116000"/>
              </a:lnSpc>
              <a:spcAft>
                <a:spcPts val="700"/>
              </a:spcAft>
            </a:pPr>
            <a:r>
              <a:rPr sz="1180" b="1">
                <a:solidFill>
                  <a:srgbClr val="22222A"/>
                </a:solidFill>
                <a:latin typeface="Calibri"/>
              </a:rPr>
              <a:t>•  </a:t>
            </a:r>
            <a:r>
              <a:rPr sz="1180" b="1">
                <a:solidFill>
                  <a:srgbClr val="22222A"/>
                </a:solidFill>
                <a:latin typeface="Calibri"/>
              </a:rPr>
              <a:t>Restricting Near Real-Time Data Visibility- </a:t>
            </a:r>
            <a:r>
              <a:rPr sz="1180" b="0">
                <a:solidFill>
                  <a:srgbClr val="22222A"/>
                </a:solidFill>
                <a:latin typeface="Calibri"/>
              </a:rPr>
              <a:t>Previously, salesflow and submission reports were fetched by scheduled batch jobs, limiting access to once-a-day static snapshots.</a:t>
            </a:r>
          </a:p>
          <a:p>
            <a:pPr>
              <a:lnSpc>
                <a:spcPct val="116000"/>
              </a:lnSpc>
              <a:spcAft>
                <a:spcPts val="400"/>
              </a:spcAft>
            </a:pPr>
            <a:r>
              <a:rPr sz="1180" b="1">
                <a:solidFill>
                  <a:srgbClr val="22222A"/>
                </a:solidFill>
                <a:latin typeface="Calibri"/>
              </a:rPr>
              <a:t>•  </a:t>
            </a:r>
            <a:r>
              <a:rPr sz="1180" b="1">
                <a:solidFill>
                  <a:srgbClr val="22222A"/>
                </a:solidFill>
                <a:latin typeface="Calibri"/>
              </a:rPr>
              <a:t>Performance and Size Limitations- </a:t>
            </a:r>
            <a:r>
              <a:rPr sz="1180" b="0">
                <a:solidFill>
                  <a:srgbClr val="22222A"/>
                </a:solidFill>
                <a:latin typeface="Calibri"/>
              </a:rPr>
              <a:t>Batch extracts across large Middle Market submission and renewal volumes led to processing delays and scalability issues.</a:t>
            </a:r>
          </a:p>
        </p:txBody>
      </p:sp>
      <p:sp>
        <p:nvSpPr>
          <p:cNvPr id="6" name="TextBox 5"/>
          <p:cNvSpPr txBox="1"/>
          <p:nvPr/>
        </p:nvSpPr>
        <p:spPr>
          <a:xfrm>
            <a:off x="530352" y="2852928"/>
            <a:ext cx="6784848" cy="274320"/>
          </a:xfrm>
          <a:prstGeom prst="rect">
            <a:avLst/>
          </a:prstGeom>
          <a:noFill/>
        </p:spPr>
        <p:txBody>
          <a:bodyPr wrap="square" lIns="0" rIns="0" tIns="0" bIns="0">
            <a:spAutoFit/>
          </a:bodyPr>
          <a:lstStyle/>
          <a:p>
            <a:r>
              <a:rPr sz="1350" b="1">
                <a:solidFill>
                  <a:srgbClr val="6E256B"/>
                </a:solidFill>
                <a:latin typeface="Calibri"/>
              </a:rPr>
              <a:t>SOLUTION HIGHLIGHTS</a:t>
            </a:r>
          </a:p>
        </p:txBody>
      </p:sp>
      <p:sp>
        <p:nvSpPr>
          <p:cNvPr id="7" name="Rectangle 6"/>
          <p:cNvSpPr/>
          <p:nvPr/>
        </p:nvSpPr>
        <p:spPr>
          <a:xfrm>
            <a:off x="530352" y="3118104"/>
            <a:ext cx="6784848" cy="13716"/>
          </a:xfrm>
          <a:prstGeom prst="rect">
            <a:avLst/>
          </a:prstGeom>
          <a:solidFill>
            <a:srgbClr val="D5C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3200400"/>
            <a:ext cx="6784848" cy="3291840"/>
          </a:xfrm>
          <a:prstGeom prst="rect">
            <a:avLst/>
          </a:prstGeom>
          <a:noFill/>
        </p:spPr>
        <p:txBody>
          <a:bodyPr wrap="square" lIns="0" rIns="0" tIns="0" bIns="0">
            <a:spAutoFit/>
          </a:bodyPr>
          <a:lstStyle/>
          <a:p>
            <a:pPr>
              <a:lnSpc>
                <a:spcPct val="116000"/>
              </a:lnSpc>
              <a:spcAft>
                <a:spcPts val="600"/>
              </a:spcAft>
            </a:pPr>
            <a:r>
              <a:rPr sz="1150" b="1">
                <a:solidFill>
                  <a:srgbClr val="22222A"/>
                </a:solidFill>
                <a:latin typeface="Calibri"/>
              </a:rPr>
              <a:t>•  </a:t>
            </a:r>
            <a:r>
              <a:rPr sz="1150" b="1">
                <a:solidFill>
                  <a:srgbClr val="22222A"/>
                </a:solidFill>
                <a:latin typeface="Calibri"/>
              </a:rPr>
              <a:t>Transition to Guidewire Data Studio &amp; Explore </a:t>
            </a:r>
            <a:r>
              <a:rPr sz="1150" b="0">
                <a:solidFill>
                  <a:srgbClr val="22222A"/>
                </a:solidFill>
                <a:latin typeface="Calibri"/>
              </a:rPr>
              <a:t>enabling near real-time data access from Guidewire PolicyCenter with streaming data pipelines refreshed at frequent intervals (e.g., every 20–30 minutes).</a:t>
            </a:r>
          </a:p>
          <a:p>
            <a:pPr>
              <a:lnSpc>
                <a:spcPct val="116000"/>
              </a:lnSpc>
              <a:spcAft>
                <a:spcPts val="600"/>
              </a:spcAft>
            </a:pPr>
            <a:r>
              <a:rPr sz="1150" b="1">
                <a:solidFill>
                  <a:srgbClr val="22222A"/>
                </a:solidFill>
                <a:latin typeface="Calibri"/>
              </a:rPr>
              <a:t>•  </a:t>
            </a:r>
            <a:r>
              <a:rPr sz="1150" b="1">
                <a:solidFill>
                  <a:srgbClr val="22222A"/>
                </a:solidFill>
                <a:latin typeface="Calibri"/>
              </a:rPr>
              <a:t>Flexible Data Modeling- </a:t>
            </a:r>
            <a:r>
              <a:rPr sz="1150" b="0">
                <a:solidFill>
                  <a:srgbClr val="22222A"/>
                </a:solidFill>
                <a:latin typeface="Calibri"/>
              </a:rPr>
              <a:t>Direct integration with Guidewire Data Platform to fetch and transform PolicyCenter submission, renewal, producer, and policy data.</a:t>
            </a:r>
          </a:p>
          <a:p>
            <a:pPr>
              <a:lnSpc>
                <a:spcPct val="116000"/>
              </a:lnSpc>
              <a:spcAft>
                <a:spcPts val="600"/>
              </a:spcAft>
            </a:pPr>
            <a:r>
              <a:rPr sz="1150" b="1">
                <a:solidFill>
                  <a:srgbClr val="22222A"/>
                </a:solidFill>
                <a:latin typeface="Calibri"/>
              </a:rPr>
              <a:t>•  </a:t>
            </a:r>
            <a:r>
              <a:rPr sz="1150" b="1">
                <a:solidFill>
                  <a:srgbClr val="22222A"/>
                </a:solidFill>
                <a:latin typeface="Calibri"/>
              </a:rPr>
              <a:t>Consolidated Salesflow View- </a:t>
            </a:r>
            <a:r>
              <a:rPr sz="1150" b="0">
                <a:solidFill>
                  <a:srgbClr val="22222A"/>
                </a:solidFill>
                <a:latin typeface="Calibri"/>
              </a:rPr>
              <a:t>Captures end-to-end job lifecycle events (Quoted, Bound, and Expired Submissions/Renewals), dates, account/policy numbers, underwriter, and producer/broker organization details.</a:t>
            </a:r>
          </a:p>
          <a:p>
            <a:pPr>
              <a:lnSpc>
                <a:spcPct val="116000"/>
              </a:lnSpc>
              <a:spcAft>
                <a:spcPts val="300"/>
              </a:spcAft>
            </a:pPr>
            <a:r>
              <a:rPr sz="1150" b="1">
                <a:solidFill>
                  <a:srgbClr val="22222A"/>
                </a:solidFill>
                <a:latin typeface="Calibri"/>
              </a:rPr>
              <a:t>•  </a:t>
            </a:r>
            <a:r>
              <a:rPr sz="1150" b="1">
                <a:solidFill>
                  <a:srgbClr val="22222A"/>
                </a:solidFill>
                <a:latin typeface="Calibri"/>
              </a:rPr>
              <a:t>Enhanced Pipeline &amp; Appetite Data Coverage- </a:t>
            </a:r>
            <a:r>
              <a:rPr sz="1150" b="0">
                <a:solidFill>
                  <a:srgbClr val="22222A"/>
                </a:solidFill>
                <a:latin typeface="Calibri"/>
              </a:rPr>
              <a:t>Tracks risk classifications, financials, and carrier details in one live board:</a:t>
            </a:r>
          </a:p>
          <a:p>
            <a:pPr>
              <a:lnSpc>
                <a:spcPct val="116000"/>
              </a:lnSpc>
              <a:spcAft>
                <a:spcPts val="200"/>
              </a:spcAft>
            </a:pPr>
            <a:r>
              <a:rPr sz="1120" b="1">
                <a:solidFill>
                  <a:srgbClr val="22222A"/>
                </a:solidFill>
                <a:latin typeface="Calibri"/>
              </a:rPr>
              <a:t>      →  </a:t>
            </a:r>
            <a:r>
              <a:rPr sz="1120" b="0">
                <a:solidFill>
                  <a:srgbClr val="22222A"/>
                </a:solidFill>
                <a:latin typeface="Calibri"/>
              </a:rPr>
              <a:t>Industry &amp; Appetite Details (SIC4, NACE, Industry/Class/Overall Appetite)</a:t>
            </a:r>
          </a:p>
          <a:p>
            <a:pPr>
              <a:lnSpc>
                <a:spcPct val="116000"/>
              </a:lnSpc>
              <a:spcAft>
                <a:spcPts val="600"/>
              </a:spcAft>
            </a:pPr>
            <a:r>
              <a:rPr sz="1120" b="1">
                <a:solidFill>
                  <a:srgbClr val="22222A"/>
                </a:solidFill>
                <a:latin typeface="Calibri"/>
              </a:rPr>
              <a:t>      →  </a:t>
            </a:r>
            <a:r>
              <a:rPr sz="1120" b="0">
                <a:solidFill>
                  <a:srgbClr val="22222A"/>
                </a:solidFill>
                <a:latin typeface="Calibri"/>
              </a:rPr>
              <a:t>Premium &amp; Carrier Metrics (Estimated, Quoted &amp; Bound Premium, Incumbent &amp; Winning Carrier)</a:t>
            </a:r>
          </a:p>
          <a:p>
            <a:pPr>
              <a:lnSpc>
                <a:spcPct val="116000"/>
              </a:lnSpc>
              <a:spcAft>
                <a:spcPts val="0"/>
              </a:spcAft>
            </a:pPr>
            <a:r>
              <a:rPr sz="1150" b="1">
                <a:solidFill>
                  <a:srgbClr val="22222A"/>
                </a:solidFill>
                <a:latin typeface="Calibri"/>
              </a:rPr>
              <a:t>•  </a:t>
            </a:r>
            <a:r>
              <a:rPr sz="1150" b="1">
                <a:solidFill>
                  <a:srgbClr val="22222A"/>
                </a:solidFill>
                <a:latin typeface="Calibri"/>
              </a:rPr>
              <a:t>Scope- </a:t>
            </a:r>
            <a:r>
              <a:rPr sz="1150" b="0">
                <a:solidFill>
                  <a:srgbClr val="22222A"/>
                </a:solidFill>
                <a:latin typeface="Calibri"/>
              </a:rPr>
              <a:t>Commercial Auto, Property Select, General Liability / Primary Casualty, Workers Compensation, and Commercial Umbrella lines of Business.</a:t>
            </a:r>
          </a:p>
        </p:txBody>
      </p:sp>
      <p:sp>
        <p:nvSpPr>
          <p:cNvPr id="9" name="Rectangle 8"/>
          <p:cNvSpPr/>
          <p:nvPr/>
        </p:nvSpPr>
        <p:spPr>
          <a:xfrm>
            <a:off x="7571231" y="1078992"/>
            <a:ext cx="4114800" cy="5166360"/>
          </a:xfrm>
          <a:prstGeom prst="rect">
            <a:avLst/>
          </a:prstGeom>
          <a:solidFill>
            <a:srgbClr val="CEB8DC"/>
          </a:solidFill>
          <a:ln w="12700">
            <a:solidFill>
              <a:srgbClr val="B89E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1" y="1316736"/>
            <a:ext cx="3749040" cy="411480"/>
          </a:xfrm>
          <a:prstGeom prst="rect">
            <a:avLst/>
          </a:prstGeom>
          <a:noFill/>
        </p:spPr>
        <p:txBody>
          <a:bodyPr wrap="square">
            <a:spAutoFit/>
          </a:bodyPr>
          <a:lstStyle/>
          <a:p>
            <a:pPr algn="ctr"/>
            <a:r>
              <a:rPr sz="1850" b="1">
                <a:solidFill>
                  <a:srgbClr val="1E1D24"/>
                </a:solidFill>
                <a:latin typeface="Calibri"/>
              </a:rPr>
              <a:t>Key Benefits for AXA</a:t>
            </a:r>
          </a:p>
        </p:txBody>
      </p:sp>
      <p:sp>
        <p:nvSpPr>
          <p:cNvPr id="11" name="TextBox 10"/>
          <p:cNvSpPr txBox="1"/>
          <p:nvPr/>
        </p:nvSpPr>
        <p:spPr>
          <a:xfrm>
            <a:off x="7808975" y="1865376"/>
            <a:ext cx="3639312" cy="4251960"/>
          </a:xfrm>
          <a:prstGeom prst="rect">
            <a:avLst/>
          </a:prstGeom>
          <a:noFill/>
        </p:spPr>
        <p:txBody>
          <a:bodyPr wrap="square" lIns="0" rIns="0" tIns="0" bIns="0">
            <a:spAutoFit/>
          </a:bodyPr>
          <a:lstStyle/>
          <a:p>
            <a:pPr>
              <a:lnSpc>
                <a:spcPct val="116000"/>
              </a:lnSpc>
              <a:spcAft>
                <a:spcPts val="1400"/>
              </a:spcAft>
            </a:pPr>
            <a:r>
              <a:rPr sz="1160" b="1">
                <a:solidFill>
                  <a:srgbClr val="22222A"/>
                </a:solidFill>
                <a:latin typeface="Calibri"/>
              </a:rPr>
              <a:t>✓  </a:t>
            </a:r>
            <a:r>
              <a:rPr sz="1160" b="1">
                <a:solidFill>
                  <a:srgbClr val="22222A"/>
                </a:solidFill>
                <a:latin typeface="Calibri"/>
              </a:rPr>
              <a:t>Data Accuracy- </a:t>
            </a:r>
            <a:r>
              <a:rPr sz="1160" b="0">
                <a:solidFill>
                  <a:srgbClr val="22222A"/>
                </a:solidFill>
                <a:latin typeface="Calibri"/>
              </a:rPr>
              <a:t>Ensures consistent and reliable reporting by leveraging near real-time PolicyCenter data, reducing discrepancies caused by batch delays and outdated snapshots.</a:t>
            </a:r>
          </a:p>
          <a:p>
            <a:pPr>
              <a:lnSpc>
                <a:spcPct val="116000"/>
              </a:lnSpc>
              <a:spcAft>
                <a:spcPts val="1400"/>
              </a:spcAft>
            </a:pPr>
            <a:r>
              <a:rPr sz="1160" b="1">
                <a:solidFill>
                  <a:srgbClr val="22222A"/>
                </a:solidFill>
                <a:latin typeface="Calibri"/>
              </a:rPr>
              <a:t>✓  </a:t>
            </a:r>
            <a:r>
              <a:rPr sz="1160" b="1">
                <a:solidFill>
                  <a:srgbClr val="22222A"/>
                </a:solidFill>
                <a:latin typeface="Calibri"/>
              </a:rPr>
              <a:t>Increases Operational Efficiency – </a:t>
            </a:r>
            <a:r>
              <a:rPr sz="1160" b="0">
                <a:solidFill>
                  <a:srgbClr val="22222A"/>
                </a:solidFill>
                <a:latin typeface="Calibri"/>
              </a:rPr>
              <a:t>Business users no longer need to wait for next-day batch runs to check submission status, quotes, or bound premiums, enabling faster day-to-day visibility.</a:t>
            </a:r>
          </a:p>
          <a:p>
            <a:pPr>
              <a:lnSpc>
                <a:spcPct val="116000"/>
              </a:lnSpc>
              <a:spcAft>
                <a:spcPts val="1400"/>
              </a:spcAft>
            </a:pPr>
            <a:r>
              <a:rPr sz="1160" b="1">
                <a:solidFill>
                  <a:srgbClr val="22222A"/>
                </a:solidFill>
                <a:latin typeface="Calibri"/>
              </a:rPr>
              <a:t>✓  </a:t>
            </a:r>
            <a:r>
              <a:rPr sz="1160" b="1">
                <a:solidFill>
                  <a:srgbClr val="22222A"/>
                </a:solidFill>
                <a:latin typeface="Calibri"/>
              </a:rPr>
              <a:t>Unified Appetite &amp; Pipeline Tracking- </a:t>
            </a:r>
            <a:r>
              <a:rPr sz="1160" b="0">
                <a:solidFill>
                  <a:srgbClr val="22222A"/>
                </a:solidFill>
                <a:latin typeface="Calibri"/>
              </a:rPr>
              <a:t>Brings job events, appetite classifications, producer details, and bound premium by event together in a single self-service dashboard.</a:t>
            </a:r>
          </a:p>
          <a:p>
            <a:pPr>
              <a:lnSpc>
                <a:spcPct val="116000"/>
              </a:lnSpc>
              <a:spcAft>
                <a:spcPts val="0"/>
              </a:spcAft>
            </a:pPr>
            <a:r>
              <a:rPr sz="1160" b="1">
                <a:solidFill>
                  <a:srgbClr val="22222A"/>
                </a:solidFill>
                <a:latin typeface="Calibri"/>
              </a:rPr>
              <a:t>✓  </a:t>
            </a:r>
            <a:r>
              <a:rPr sz="1160" b="1">
                <a:solidFill>
                  <a:srgbClr val="22222A"/>
                </a:solidFill>
                <a:latin typeface="Calibri"/>
              </a:rPr>
              <a:t>Scalable Architecture- </a:t>
            </a:r>
            <a:r>
              <a:rPr sz="1160" b="0">
                <a:solidFill>
                  <a:srgbClr val="22222A"/>
                </a:solidFill>
                <a:latin typeface="Calibri"/>
              </a:rPr>
              <a:t>Handles large Middle Market datasets efficiently without batch size constraints.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F8"/>
        </a:solidFill>
        <a:effectLst/>
      </p:bgPr>
    </p:bg>
    <p:spTree>
      <p:nvGrpSpPr>
        <p:cNvPr id="1" name=""/>
        <p:cNvGrpSpPr/>
        <p:nvPr/>
      </p:nvGrpSpPr>
      <p:grpSpPr/>
      <p:sp>
        <p:nvSpPr>
          <p:cNvPr id="2" name="TextBox 1"/>
          <p:cNvSpPr txBox="1"/>
          <p:nvPr/>
        </p:nvSpPr>
        <p:spPr>
          <a:xfrm>
            <a:off x="457200" y="201168"/>
            <a:ext cx="11277295" cy="594360"/>
          </a:xfrm>
          <a:prstGeom prst="rect">
            <a:avLst/>
          </a:prstGeom>
          <a:noFill/>
        </p:spPr>
        <p:txBody>
          <a:bodyPr wrap="square" lIns="0" rIns="0" tIns="0" bIns="0">
            <a:spAutoFit/>
          </a:bodyPr>
          <a:lstStyle/>
          <a:p>
            <a:pPr algn="ctr"/>
            <a:r>
              <a:rPr sz="2450" b="1">
                <a:solidFill>
                  <a:srgbClr val="1E1D24"/>
                </a:solidFill>
                <a:latin typeface="Calibri"/>
              </a:rPr>
              <a:t>Guidewire Explore Board Reports – Overview of Generated Details</a:t>
            </a:r>
          </a:p>
          <a:p>
            <a:pPr algn="ctr">
              <a:spcBef>
                <a:spcPts val="200"/>
              </a:spcBef>
            </a:pPr>
            <a:r>
              <a:rPr sz="1150" i="1">
                <a:solidFill>
                  <a:srgbClr val="524E5E"/>
                </a:solidFill>
                <a:latin typeface="Calibri"/>
              </a:rPr>
              <a:t>Summary of data elements and metrics generated across US Middle Market Explore reports</a:t>
            </a:r>
          </a:p>
        </p:txBody>
      </p:sp>
      <p:sp>
        <p:nvSpPr>
          <p:cNvPr id="3" name="Rectangle 2"/>
          <p:cNvSpPr/>
          <p:nvPr/>
        </p:nvSpPr>
        <p:spPr>
          <a:xfrm>
            <a:off x="548640" y="896112"/>
            <a:ext cx="11091672" cy="1042415"/>
          </a:xfrm>
          <a:prstGeom prst="rect">
            <a:avLst/>
          </a:prstGeom>
          <a:solidFill>
            <a:srgbClr val="FFFFFF"/>
          </a:solidFill>
          <a:ln w="12700">
            <a:solidFill>
              <a:srgbClr val="DFD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896112"/>
            <a:ext cx="73152" cy="1042415"/>
          </a:xfrm>
          <a:prstGeom prst="rect">
            <a:avLst/>
          </a:prstGeom>
          <a:solidFill>
            <a:srgbClr val="6E2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9264"/>
            <a:ext cx="10762488" cy="256032"/>
          </a:xfrm>
          <a:prstGeom prst="rect">
            <a:avLst/>
          </a:prstGeom>
          <a:noFill/>
        </p:spPr>
        <p:txBody>
          <a:bodyPr wrap="square" lIns="0" rIns="0" tIns="0" bIns="0">
            <a:spAutoFit/>
          </a:bodyPr>
          <a:lstStyle/>
          <a:p>
            <a:r>
              <a:rPr sz="1280" b="1">
                <a:solidFill>
                  <a:srgbClr val="6E256B"/>
                </a:solidFill>
                <a:latin typeface="Calibri"/>
              </a:rPr>
              <a:t>1. WC Exposure Gradient Report (WC gradient report)</a:t>
            </a:r>
          </a:p>
        </p:txBody>
      </p:sp>
      <p:sp>
        <p:nvSpPr>
          <p:cNvPr id="6" name="TextBox 5"/>
          <p:cNvSpPr txBox="1"/>
          <p:nvPr/>
        </p:nvSpPr>
        <p:spPr>
          <a:xfrm>
            <a:off x="731520" y="1225296"/>
            <a:ext cx="10744200" cy="658367"/>
          </a:xfrm>
          <a:prstGeom prst="rect">
            <a:avLst/>
          </a:prstGeom>
          <a:noFill/>
        </p:spPr>
        <p:txBody>
          <a:bodyPr wrap="square" anchor="ctr" lIns="0" rIns="0" tIns="0" bIns="0">
            <a:spAutoFit/>
          </a:bodyPr>
          <a:lstStyle/>
          <a:p>
            <a:pPr>
              <a:lnSpc>
                <a:spcPct val="115000"/>
              </a:lnSpc>
            </a:pPr>
            <a:r>
              <a:rPr sz="1080">
                <a:solidFill>
                  <a:srgbClr val="22222A"/>
                </a:solidFill>
                <a:latin typeface="Calibri"/>
              </a:rPr>
              <a:t>Generates Workers' Compensation policy and transaction details (Submission, Policy Change, Cancellation) along with producer, underwriting company, policy status, and SIC2 / SIC4 / NAICS industry codes. Captures accident and disease limits, rated state, class codes and rating modifiers (Experience Mod, Merit Rating), payroll exposure basis, rates, premiums, and location employee counts.</a:t>
            </a:r>
          </a:p>
        </p:txBody>
      </p:sp>
      <p:sp>
        <p:nvSpPr>
          <p:cNvPr id="7" name="Rectangle 6"/>
          <p:cNvSpPr/>
          <p:nvPr/>
        </p:nvSpPr>
        <p:spPr>
          <a:xfrm>
            <a:off x="548640" y="2048255"/>
            <a:ext cx="11091672" cy="1042415"/>
          </a:xfrm>
          <a:prstGeom prst="rect">
            <a:avLst/>
          </a:prstGeom>
          <a:solidFill>
            <a:srgbClr val="FFFFFF"/>
          </a:solidFill>
          <a:ln w="12700">
            <a:solidFill>
              <a:srgbClr val="DFD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48255"/>
            <a:ext cx="73152" cy="1042415"/>
          </a:xfrm>
          <a:prstGeom prst="rect">
            <a:avLst/>
          </a:prstGeom>
          <a:solidFill>
            <a:srgbClr val="6E2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21407"/>
            <a:ext cx="10762488" cy="256032"/>
          </a:xfrm>
          <a:prstGeom prst="rect">
            <a:avLst/>
          </a:prstGeom>
          <a:noFill/>
        </p:spPr>
        <p:txBody>
          <a:bodyPr wrap="square" lIns="0" rIns="0" tIns="0" bIns="0">
            <a:spAutoFit/>
          </a:bodyPr>
          <a:lstStyle/>
          <a:p>
            <a:r>
              <a:rPr sz="1280" b="1">
                <a:solidFill>
                  <a:srgbClr val="6E256B"/>
                </a:solidFill>
                <a:latin typeface="Calibri"/>
              </a:rPr>
              <a:t>2. Systemic Risk Data Elements</a:t>
            </a:r>
          </a:p>
        </p:txBody>
      </p:sp>
      <p:sp>
        <p:nvSpPr>
          <p:cNvPr id="10" name="TextBox 9"/>
          <p:cNvSpPr txBox="1"/>
          <p:nvPr/>
        </p:nvSpPr>
        <p:spPr>
          <a:xfrm>
            <a:off x="731520" y="2377439"/>
            <a:ext cx="10744200" cy="658367"/>
          </a:xfrm>
          <a:prstGeom prst="rect">
            <a:avLst/>
          </a:prstGeom>
          <a:noFill/>
        </p:spPr>
        <p:txBody>
          <a:bodyPr wrap="square" anchor="ctr" lIns="0" rIns="0" tIns="0" bIns="0">
            <a:spAutoFit/>
          </a:bodyPr>
          <a:lstStyle/>
          <a:p>
            <a:pPr>
              <a:lnSpc>
                <a:spcPct val="115000"/>
              </a:lnSpc>
            </a:pPr>
            <a:r>
              <a:rPr sz="1080">
                <a:solidFill>
                  <a:srgbClr val="22222A"/>
                </a:solidFill>
                <a:latin typeface="Calibri"/>
              </a:rPr>
              <a:t>Generates US Middle Market account, policy, and transaction details (Issuance, Renewal) paired with systemic and time-element coverage attributes. Captures existence flags (Yes/No), sublimits, consecutive day limits, and mile radii for Civil or Military Authority, Ingress/Egress, Service Interruption, combined Wind/Hail limits, and Contingent Time Element at unscheduled and scheduled properties (with supplier/customer details).</a:t>
            </a:r>
          </a:p>
        </p:txBody>
      </p:sp>
      <p:sp>
        <p:nvSpPr>
          <p:cNvPr id="11" name="Rectangle 10"/>
          <p:cNvSpPr/>
          <p:nvPr/>
        </p:nvSpPr>
        <p:spPr>
          <a:xfrm>
            <a:off x="548640" y="3200398"/>
            <a:ext cx="11091672" cy="1042415"/>
          </a:xfrm>
          <a:prstGeom prst="rect">
            <a:avLst/>
          </a:prstGeom>
          <a:solidFill>
            <a:srgbClr val="FFFFFF"/>
          </a:solidFill>
          <a:ln w="12700">
            <a:solidFill>
              <a:srgbClr val="DFD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0398"/>
            <a:ext cx="73152" cy="1042415"/>
          </a:xfrm>
          <a:prstGeom prst="rect">
            <a:avLst/>
          </a:prstGeom>
          <a:solidFill>
            <a:srgbClr val="6E2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73550"/>
            <a:ext cx="10762488" cy="256032"/>
          </a:xfrm>
          <a:prstGeom prst="rect">
            <a:avLst/>
          </a:prstGeom>
          <a:noFill/>
        </p:spPr>
        <p:txBody>
          <a:bodyPr wrap="square" lIns="0" rIns="0" tIns="0" bIns="0">
            <a:spAutoFit/>
          </a:bodyPr>
          <a:lstStyle/>
          <a:p>
            <a:r>
              <a:rPr sz="1280" b="1">
                <a:solidFill>
                  <a:srgbClr val="6E256B"/>
                </a:solidFill>
                <a:latin typeface="Calibri"/>
              </a:rPr>
              <a:t>3. WC Accumulation Report</a:t>
            </a:r>
          </a:p>
        </p:txBody>
      </p:sp>
      <p:sp>
        <p:nvSpPr>
          <p:cNvPr id="14" name="TextBox 13"/>
          <p:cNvSpPr txBox="1"/>
          <p:nvPr/>
        </p:nvSpPr>
        <p:spPr>
          <a:xfrm>
            <a:off x="731520" y="3529582"/>
            <a:ext cx="10744200" cy="658367"/>
          </a:xfrm>
          <a:prstGeom prst="rect">
            <a:avLst/>
          </a:prstGeom>
          <a:noFill/>
        </p:spPr>
        <p:txBody>
          <a:bodyPr wrap="square" anchor="ctr" lIns="0" rIns="0" tIns="0" bIns="0">
            <a:spAutoFit/>
          </a:bodyPr>
          <a:lstStyle/>
          <a:p>
            <a:pPr>
              <a:lnSpc>
                <a:spcPct val="115000"/>
              </a:lnSpc>
            </a:pPr>
            <a:r>
              <a:rPr sz="1080">
                <a:solidFill>
                  <a:srgbClr val="22222A"/>
                </a:solidFill>
                <a:latin typeface="Calibri"/>
              </a:rPr>
              <a:t>Generates bound and issued Workers' Compensation policy details, including submission status, inception and expiration dates, deductibles, and bound premium (including tax and surcharge). Provides location-level records across covered risk addresses (location number, street, city, county, state, ZIP code) and Primary Named Insured (PNI) addresses, capturing employee counts and total payroll by location.</a:t>
            </a:r>
          </a:p>
        </p:txBody>
      </p:sp>
      <p:sp>
        <p:nvSpPr>
          <p:cNvPr id="15" name="Rectangle 14"/>
          <p:cNvSpPr/>
          <p:nvPr/>
        </p:nvSpPr>
        <p:spPr>
          <a:xfrm>
            <a:off x="548640" y="4352541"/>
            <a:ext cx="11091672" cy="1042415"/>
          </a:xfrm>
          <a:prstGeom prst="rect">
            <a:avLst/>
          </a:prstGeom>
          <a:solidFill>
            <a:srgbClr val="FFFFFF"/>
          </a:solidFill>
          <a:ln w="12700">
            <a:solidFill>
              <a:srgbClr val="DFD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352541"/>
            <a:ext cx="73152" cy="1042415"/>
          </a:xfrm>
          <a:prstGeom prst="rect">
            <a:avLst/>
          </a:prstGeom>
          <a:solidFill>
            <a:srgbClr val="6E2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3"/>
            <a:ext cx="10762488" cy="256032"/>
          </a:xfrm>
          <a:prstGeom prst="rect">
            <a:avLst/>
          </a:prstGeom>
          <a:noFill/>
        </p:spPr>
        <p:txBody>
          <a:bodyPr wrap="square" lIns="0" rIns="0" tIns="0" bIns="0">
            <a:spAutoFit/>
          </a:bodyPr>
          <a:lstStyle/>
          <a:p>
            <a:r>
              <a:rPr sz="1280" b="1">
                <a:solidFill>
                  <a:srgbClr val="6E256B"/>
                </a:solidFill>
                <a:latin typeface="Calibri"/>
              </a:rPr>
              <a:t>4. Custom TAT Report – MM</a:t>
            </a:r>
          </a:p>
        </p:txBody>
      </p:sp>
      <p:sp>
        <p:nvSpPr>
          <p:cNvPr id="18" name="TextBox 17"/>
          <p:cNvSpPr txBox="1"/>
          <p:nvPr/>
        </p:nvSpPr>
        <p:spPr>
          <a:xfrm>
            <a:off x="731520" y="4681725"/>
            <a:ext cx="10744200" cy="658367"/>
          </a:xfrm>
          <a:prstGeom prst="rect">
            <a:avLst/>
          </a:prstGeom>
          <a:noFill/>
        </p:spPr>
        <p:txBody>
          <a:bodyPr wrap="square" anchor="ctr" lIns="0" rIns="0" tIns="0" bIns="0">
            <a:spAutoFit/>
          </a:bodyPr>
          <a:lstStyle/>
          <a:p>
            <a:pPr>
              <a:lnSpc>
                <a:spcPct val="115000"/>
              </a:lnSpc>
            </a:pPr>
            <a:r>
              <a:rPr sz="1080">
                <a:solidFill>
                  <a:srgbClr val="22222A"/>
                </a:solidFill>
                <a:latin typeface="Calibri"/>
              </a:rPr>
              <a:t>Generates monthly submission counts broken down by Line of Business, PolicyCenter status, effective date, and Date Quote Needed, alongside account-level Total Bound and Total Issued policy counts. Captures turnaround time metrics separately for New Business and Renewals—including Draft-to-Issue days, Speed-to-Bound (Draft-to-Bound) days, and monthly average quotes and issued quotes per underwriter.</a:t>
            </a:r>
          </a:p>
        </p:txBody>
      </p:sp>
      <p:sp>
        <p:nvSpPr>
          <p:cNvPr id="19" name="Rectangle 18"/>
          <p:cNvSpPr/>
          <p:nvPr/>
        </p:nvSpPr>
        <p:spPr>
          <a:xfrm>
            <a:off x="548640" y="5504684"/>
            <a:ext cx="11091672" cy="1042415"/>
          </a:xfrm>
          <a:prstGeom prst="rect">
            <a:avLst/>
          </a:prstGeom>
          <a:solidFill>
            <a:srgbClr val="FFFFFF"/>
          </a:solidFill>
          <a:ln w="12700">
            <a:solidFill>
              <a:srgbClr val="DFD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504684"/>
            <a:ext cx="73152" cy="1042415"/>
          </a:xfrm>
          <a:prstGeom prst="rect">
            <a:avLst/>
          </a:prstGeom>
          <a:solidFill>
            <a:srgbClr val="6E2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577836"/>
            <a:ext cx="10762488" cy="256032"/>
          </a:xfrm>
          <a:prstGeom prst="rect">
            <a:avLst/>
          </a:prstGeom>
          <a:noFill/>
        </p:spPr>
        <p:txBody>
          <a:bodyPr wrap="square" lIns="0" rIns="0" tIns="0" bIns="0">
            <a:spAutoFit/>
          </a:bodyPr>
          <a:lstStyle/>
          <a:p>
            <a:r>
              <a:rPr sz="1280" b="1">
                <a:solidFill>
                  <a:srgbClr val="6E256B"/>
                </a:solidFill>
                <a:latin typeface="Calibri"/>
              </a:rPr>
              <a:t>5. Submission Report – MM</a:t>
            </a:r>
          </a:p>
        </p:txBody>
      </p:sp>
      <p:sp>
        <p:nvSpPr>
          <p:cNvPr id="22" name="TextBox 21"/>
          <p:cNvSpPr txBox="1"/>
          <p:nvPr/>
        </p:nvSpPr>
        <p:spPr>
          <a:xfrm>
            <a:off x="731520" y="5833868"/>
            <a:ext cx="10744200" cy="658367"/>
          </a:xfrm>
          <a:prstGeom prst="rect">
            <a:avLst/>
          </a:prstGeom>
          <a:noFill/>
        </p:spPr>
        <p:txBody>
          <a:bodyPr wrap="square" anchor="ctr" lIns="0" rIns="0" tIns="0" bIns="0">
            <a:spAutoFit/>
          </a:bodyPr>
          <a:lstStyle/>
          <a:p>
            <a:pPr>
              <a:lnSpc>
                <a:spcPct val="115000"/>
              </a:lnSpc>
            </a:pPr>
            <a:r>
              <a:rPr sz="1080">
                <a:solidFill>
                  <a:srgbClr val="22222A"/>
                </a:solidFill>
                <a:latin typeface="Calibri"/>
              </a:rPr>
              <a:t>Generates visual charts and tables covering monthly submission volume, New vs. Renewal mix, market segment, status breakdown, Opportunity-to-Bind and Quote-to-Bind rates (by month, LOB, and branch), and submission Reject Reasons. Also outputs Producer Performance (submissions, quoted counts, quoted premium, hit rate), Active Submissions (with days created), and UW Issues (hazard description and approving user).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