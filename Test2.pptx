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US Commercial PAS Program – Weekly Status Report</a:t>
            </a:r>
          </a:p>
          <a:p>
            <a:pPr>
              <a:defRPr sz="950">
                <a:solidFill>
                  <a:srgbClr val="64748B"/>
                </a:solidFill>
                <a:latin typeface="Calibri"/>
              </a:defRPr>
            </a:pPr>
            <a:r>
              <a:t>Unified Status Report across Enhance, Extend, Signature Property &amp; AMS Streams</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Track: Executive Summary</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1 of 5</a:t>
            </a:r>
          </a:p>
        </p:txBody>
      </p:sp>
      <p:graphicFrame>
        <p:nvGraphicFramePr>
          <p:cNvPr id="7" name="Table 6"/>
          <p:cNvGraphicFramePr>
            <a:graphicFrameLocks noGrp="1"/>
          </p:cNvGraphicFramePr>
          <p:nvPr/>
        </p:nvGraphicFramePr>
        <p:xfrm>
          <a:off x="548640" y="1005840"/>
          <a:ext cx="11094415" cy="1737360"/>
        </p:xfrm>
        <a:graphic>
          <a:graphicData uri="http://schemas.openxmlformats.org/drawingml/2006/table">
            <a:tbl>
              <a:tblPr firstRow="1" bandRow="1">
                <a:tableStyleId>{5C22544A-7EE6-4342-B048-85BDC9FD1C3A}</a:tableStyleId>
              </a:tblPr>
              <a:tblGrid>
                <a:gridCol w="1645920"/>
                <a:gridCol w="3931920"/>
                <a:gridCol w="2011680"/>
                <a:gridCol w="3504895"/>
              </a:tblGrid>
              <a:tr h="434340">
                <a:tc gridSpan="4">
                  <a:txBody>
                    <a:bodyPr wrap="square"/>
                    <a:lstStyle/>
                    <a:p>
                      <a:pPr algn="l"/>
                      <a:r>
                        <a:rPr sz="950" b="1" i="0">
                          <a:solidFill>
                            <a:srgbClr val="FFFFFF"/>
                          </a:solidFill>
                          <a:latin typeface="Calibri"/>
                        </a:rPr>
                        <a:t>Project Description &amp; Governance Overview</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434340">
                <a:tc gridSpan="4">
                  <a:txBody>
                    <a:bodyPr wrap="square"/>
                    <a:lstStyle/>
                    <a:p>
                      <a:pPr algn="l"/>
                      <a:r>
                        <a:rPr sz="800" b="0" i="0">
                          <a:solidFill>
                            <a:srgbClr val="1E293B"/>
                          </a:solidFill>
                          <a:latin typeface="Calibri"/>
                        </a:rPr>
                        <a:t>Project Description: AXA XL's Commercial Policy Administration System (PAS) program drives growth across US Middle Market and Wholesale sectors, supporting the entire policy lifecycle (Submission through Policy Servicing) for Commercial lines. The unified program encompasses four core delivery streams: Enhance (Middle Market platform releases R4.7 &amp; R4.8, operational efficiency, and business priority enhancements), Extend (Wholesale PAS delivery for Primary &amp; Excess Casualty and Energy products), Signature Property (expansion of commercial property capabilities), and AMS (Application Management Services &amp; ongoing production support).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hMerge="1">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34340">
                <a:tc>
                  <a:txBody>
                    <a:bodyPr wrap="square"/>
                    <a:lstStyle/>
                    <a:p>
                      <a:pPr algn="l"/>
                      <a:r>
                        <a:rPr sz="800" b="1" i="0">
                          <a:solidFill>
                            <a:srgbClr val="1E293B"/>
                          </a:solidFill>
                          <a:latin typeface="Calibri"/>
                        </a:rPr>
                        <a:t>Executive Sponsors: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Matthieu Caillat &amp; Matthew Waters (MM) | Bennett Turner (Wholesale)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1" i="0">
                          <a:solidFill>
                            <a:srgbClr val="1E293B"/>
                          </a:solidFill>
                          <a:latin typeface="Calibri"/>
                        </a:rPr>
                        <a:t>Impacted Region: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United States (US)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34340">
                <a:tc>
                  <a:txBody>
                    <a:bodyPr wrap="square"/>
                    <a:lstStyle/>
                    <a:p>
                      <a:pPr algn="l"/>
                      <a:r>
                        <a:rPr sz="800" b="1" i="0">
                          <a:solidFill>
                            <a:srgbClr val="1E293B"/>
                          </a:solidFill>
                          <a:latin typeface="Calibri"/>
                        </a:rPr>
                        <a:t>Project Manager / Lead: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Kishore Banala (PM) | Delivery Lead: Gaurav</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1" i="0">
                          <a:solidFill>
                            <a:srgbClr val="1E293B"/>
                          </a:solidFill>
                          <a:latin typeface="Calibri"/>
                        </a:rPr>
                        <a:t>CDF Phase &amp; Compliance: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CDF Phase: Deliver  |  Stage Gate Compliance: 🟢 Compliant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548640" y="2852928"/>
          <a:ext cx="11094415" cy="1051560"/>
        </p:xfrm>
        <a:graphic>
          <a:graphicData uri="http://schemas.openxmlformats.org/drawingml/2006/table">
            <a:tbl>
              <a:tblPr firstRow="1" bandRow="1">
                <a:tableStyleId>{5C22544A-7EE6-4342-B048-85BDC9FD1C3A}</a:tableStyleId>
              </a:tblPr>
              <a:tblGrid>
                <a:gridCol w="1950415"/>
                <a:gridCol w="2286000"/>
                <a:gridCol w="2286000"/>
                <a:gridCol w="2286000"/>
                <a:gridCol w="2286000"/>
              </a:tblGrid>
              <a:tr h="350520">
                <a:tc>
                  <a:txBody>
                    <a:bodyPr wrap="square"/>
                    <a:lstStyle/>
                    <a:p>
                      <a:pPr algn="ctr"/>
                      <a:r>
                        <a:rPr sz="900" b="1" i="0">
                          <a:solidFill>
                            <a:srgbClr val="FFFFFF"/>
                          </a:solidFill>
                          <a:latin typeface="Calibri"/>
                        </a:rPr>
                        <a:t>Delivery Stream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900" b="1" i="0">
                          <a:solidFill>
                            <a:srgbClr val="FFFFFF"/>
                          </a:solidFill>
                          <a:latin typeface="Calibri"/>
                        </a:rPr>
                        <a:t>Enhance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900" b="1" i="0">
                          <a:solidFill>
                            <a:srgbClr val="FFFFFF"/>
                          </a:solidFill>
                          <a:latin typeface="Calibri"/>
                        </a:rPr>
                        <a:t>Extend (Wholesale)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900" b="1" i="0">
                          <a:solidFill>
                            <a:srgbClr val="FFFFFF"/>
                          </a:solidFill>
                          <a:latin typeface="Calibri"/>
                        </a:rPr>
                        <a:t>Signature Property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900" b="1" i="0">
                          <a:solidFill>
                            <a:srgbClr val="FFFFFF"/>
                          </a:solidFill>
                          <a:latin typeface="Calibri"/>
                        </a:rPr>
                        <a:t>AMS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0520">
                <a:tc>
                  <a:txBody>
                    <a:bodyPr wrap="square"/>
                    <a:lstStyle/>
                    <a:p>
                      <a:pPr algn="l"/>
                      <a:r>
                        <a:rPr sz="850" b="1" i="0">
                          <a:solidFill>
                            <a:srgbClr val="1E293B"/>
                          </a:solidFill>
                          <a:latin typeface="Calibri"/>
                        </a:rPr>
                        <a:t>Current RAG 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r>
              <a:tr h="350520">
                <a:tc>
                  <a:txBody>
                    <a:bodyPr wrap="square"/>
                    <a:lstStyle/>
                    <a:p>
                      <a:pPr algn="l"/>
                      <a:r>
                        <a:rPr sz="800" b="1" i="0">
                          <a:solidFill>
                            <a:srgbClr val="1E293B"/>
                          </a:solidFill>
                          <a:latin typeface="Calibri"/>
                        </a:rPr>
                        <a:t>Key Delivery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R4.7 Pre-Prod &amp; R4.8 Sprint testing on track</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Wholesale Pilot and Excess Casualty on schedule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Track mobilization and rating ROCs on schedule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Application support baseline and stabilization on track</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4005072"/>
          <a:ext cx="11094415" cy="2423160"/>
        </p:xfrm>
        <a:graphic>
          <a:graphicData uri="http://schemas.openxmlformats.org/drawingml/2006/table">
            <a:tbl>
              <a:tblPr firstRow="1" bandRow="1">
                <a:tableStyleId>{5C22544A-7EE6-4342-B048-85BDC9FD1C3A}</a:tableStyleId>
              </a:tblPr>
              <a:tblGrid>
                <a:gridCol w="1828800"/>
                <a:gridCol w="3047695"/>
                <a:gridCol w="1554480"/>
                <a:gridCol w="1554480"/>
                <a:gridCol w="1097280"/>
                <a:gridCol w="2011680"/>
              </a:tblGrid>
              <a:tr h="403860">
                <a:tc>
                  <a:txBody>
                    <a:bodyPr wrap="square"/>
                    <a:lstStyle/>
                    <a:p>
                      <a:pPr algn="ctr"/>
                      <a:r>
                        <a:rPr sz="850" b="1" i="0">
                          <a:solidFill>
                            <a:srgbClr val="FFFFFF"/>
                          </a:solidFill>
                          <a:latin typeface="Calibri"/>
                        </a:rPr>
                        <a:t>Delivery Stream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Milestone / Release Name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Baseline Finish (MM/DD/YY)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Schld / Actual Finish</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Executive Comments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403860">
                <a:tc>
                  <a:txBody>
                    <a:bodyPr wrap="square"/>
                    <a:lstStyle/>
                    <a:p>
                      <a:pPr algn="l"/>
                      <a:r>
                        <a:rPr sz="800" b="1" i="0">
                          <a:solidFill>
                            <a:srgbClr val="1E293B"/>
                          </a:solidFill>
                          <a:latin typeface="Calibri"/>
                        </a:rPr>
                        <a:t>Enhance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403860">
                <a:tc>
                  <a:txBody>
                    <a:bodyPr wrap="square"/>
                    <a:lstStyle/>
                    <a:p>
                      <a:pPr algn="l"/>
                      <a:r>
                        <a:rPr sz="800" b="1" i="0">
                          <a:solidFill>
                            <a:srgbClr val="1E293B"/>
                          </a:solidFill>
                          <a:latin typeface="Calibri"/>
                        </a:rPr>
                        <a:t>Extend (Wholesale)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03860">
                <a:tc>
                  <a:txBody>
                    <a:bodyPr wrap="square"/>
                    <a:lstStyle/>
                    <a:p>
                      <a:pPr algn="l"/>
                      <a:r>
                        <a:rPr sz="800" b="1" i="0">
                          <a:solidFill>
                            <a:srgbClr val="1E293B"/>
                          </a:solidFill>
                          <a:latin typeface="Calibri"/>
                        </a:rPr>
                        <a:t>Signature Property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403860">
                <a:tc>
                  <a:txBody>
                    <a:bodyPr wrap="square"/>
                    <a:lstStyle/>
                    <a:p>
                      <a:pPr algn="l"/>
                      <a:r>
                        <a:rPr sz="800" b="1" i="0">
                          <a:solidFill>
                            <a:srgbClr val="1E293B"/>
                          </a:solidFill>
                          <a:latin typeface="Calibri"/>
                        </a:rPr>
                        <a:t>AMS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03860">
                <a:tc>
                  <a:txBody>
                    <a:bodyPr wrap="square"/>
                    <a:lstStyle/>
                    <a:p>
                      <a:pPr algn="l"/>
                      <a:r>
                        <a:rPr sz="800" b="1" i="0">
                          <a:solidFill>
                            <a:srgbClr val="1E293B"/>
                          </a:solidFill>
                          <a:latin typeface="Calibri"/>
                        </a:rPr>
                        <a:t>Program Release Gate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80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Extend / Wholesale – Project Status Report</a:t>
            </a:r>
          </a:p>
          <a:p>
            <a:pPr>
              <a:defRPr sz="950">
                <a:solidFill>
                  <a:srgbClr val="64748B"/>
                </a:solidFill>
                <a:latin typeface="Calibri"/>
              </a:defRPr>
            </a:pPr>
            <a:r>
              <a:t>Functional Progress across Integration, Configuration, Rating &amp; Forms | Leads: Mousumi, Arshad, Juhitha</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Stream: Extend (Wholesale)</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2 of 5</a:t>
            </a:r>
          </a:p>
        </p:txBody>
      </p:sp>
      <p:graphicFrame>
        <p:nvGraphicFramePr>
          <p:cNvPr id="7" name="Table 6"/>
          <p:cNvGraphicFramePr>
            <a:graphicFrameLocks noGrp="1"/>
          </p:cNvGraphicFramePr>
          <p:nvPr/>
        </p:nvGraphicFramePr>
        <p:xfrm>
          <a:off x="548640" y="969264"/>
          <a:ext cx="5440680" cy="1005840"/>
        </p:xfrm>
        <a:graphic>
          <a:graphicData uri="http://schemas.openxmlformats.org/drawingml/2006/table">
            <a:tbl>
              <a:tblPr firstRow="1" bandRow="1">
                <a:tableStyleId>{5C22544A-7EE6-4342-B048-85BDC9FD1C3A}</a:tableStyleId>
              </a:tblPr>
              <a:tblGrid>
                <a:gridCol w="5440680"/>
              </a:tblGrid>
              <a:tr h="502920">
                <a:tc>
                  <a:txBody>
                    <a:bodyPr wrap="square"/>
                    <a:lstStyle/>
                    <a:p>
                      <a:pPr algn="l"/>
                      <a:r>
                        <a:rPr sz="850" b="1" i="0">
                          <a:solidFill>
                            <a:srgbClr val="FFFFFF"/>
                          </a:solidFill>
                          <a:latin typeface="Calibri"/>
                        </a:rPr>
                        <a:t>Product Factory – Key Highlights | Lead: Mousumi</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502920">
                <a:tc>
                  <a:txBody>
                    <a:bodyPr wrap="square"/>
                    <a:lstStyle/>
                    <a:p>
                      <a:pPr>
                        <a:spcBef>
                          <a:spcPts val="0"/>
                        </a:spcBef>
                        <a:spcAft>
                          <a:spcPts val="250"/>
                        </a:spcAft>
                      </a:pPr>
                      <a:r>
                        <a:rPr sz="750" b="1">
                          <a:solidFill>
                            <a:srgbClr val="1B365D"/>
                          </a:solidFill>
                          <a:latin typeface="Calibri"/>
                        </a:rPr>
                        <a:t>• </a:t>
                      </a:r>
                      <a:r>
                        <a:rPr sz="750" b="1">
                          <a:solidFill>
                            <a:srgbClr val="1E293B"/>
                          </a:solidFill>
                          <a:latin typeface="Calibri"/>
                        </a:rPr>
                        <a:t>Inland Marine: </a:t>
                      </a:r>
                      <a:r>
                        <a:rPr sz="750">
                          <a:solidFill>
                            <a:srgbClr val="1E293B"/>
                          </a:solidFill>
                          <a:latin typeface="Calibri"/>
                        </a:rPr>
                        <a:t>Built Product Model design for Contractor's Equipment &amp; Builder's Risk; preparing Motor Truck Cargo workshop.</a:t>
                      </a:r>
                    </a:p>
                    <a:p>
                      <a:pPr>
                        <a:spcBef>
                          <a:spcPts val="0"/>
                        </a:spcBef>
                        <a:spcAft>
                          <a:spcPts val="250"/>
                        </a:spcAft>
                      </a:pPr>
                      <a:r>
                        <a:rPr sz="750" b="1">
                          <a:solidFill>
                            <a:srgbClr val="1B365D"/>
                          </a:solidFill>
                          <a:latin typeface="Calibri"/>
                        </a:rPr>
                        <a:t>• </a:t>
                      </a:r>
                      <a:r>
                        <a:rPr sz="750" b="1">
                          <a:solidFill>
                            <a:srgbClr val="1E293B"/>
                          </a:solidFill>
                          <a:latin typeface="Calibri"/>
                        </a:rPr>
                        <a:t>Forms Audit: </a:t>
                      </a:r>
                      <a:r>
                        <a:rPr sz="750">
                          <a:solidFill>
                            <a:srgbClr val="1E293B"/>
                          </a:solidFill>
                          <a:latin typeface="Calibri"/>
                        </a:rPr>
                        <a:t>Executing iterations on data extraction approach with additional tokens; prepping Check #2 comparison.</a:t>
                      </a:r>
                    </a:p>
                    <a:p>
                      <a:pPr>
                        <a:spcBef>
                          <a:spcPts val="0"/>
                        </a:spcBef>
                        <a:spcAft>
                          <a:spcPts val="0"/>
                        </a:spcAft>
                      </a:pPr>
                      <a:r>
                        <a:rPr sz="750" b="1">
                          <a:solidFill>
                            <a:srgbClr val="1B365D"/>
                          </a:solidFill>
                          <a:latin typeface="Calibri"/>
                        </a:rPr>
                        <a:t>• </a:t>
                      </a:r>
                      <a:r>
                        <a:rPr sz="750" b="1">
                          <a:solidFill>
                            <a:srgbClr val="1E293B"/>
                          </a:solidFill>
                          <a:latin typeface="Calibri"/>
                        </a:rPr>
                        <a:t>MM Excess Casualty &amp; Signature Property: </a:t>
                      </a:r>
                      <a:r>
                        <a:rPr sz="750">
                          <a:solidFill>
                            <a:srgbClr val="1E293B"/>
                          </a:solidFill>
                          <a:latin typeface="Calibri"/>
                        </a:rPr>
                        <a:t>Functional mobilization support completed; queries addressed across dev &amp; QA teams.</a:t>
                      </a:r>
                    </a:p>
                  </a:txBody>
                  <a:tcPr marT="27432" marB="27432" marL="54864" marR="54864">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6199632" y="969264"/>
          <a:ext cx="5440680" cy="1005840"/>
        </p:xfrm>
        <a:graphic>
          <a:graphicData uri="http://schemas.openxmlformats.org/drawingml/2006/table">
            <a:tbl>
              <a:tblPr firstRow="1" bandRow="1">
                <a:tableStyleId>{5C22544A-7EE6-4342-B048-85BDC9FD1C3A}</a:tableStyleId>
              </a:tblPr>
              <a:tblGrid>
                <a:gridCol w="5440680"/>
              </a:tblGrid>
              <a:tr h="502920">
                <a:tc>
                  <a:txBody>
                    <a:bodyPr wrap="square"/>
                    <a:lstStyle/>
                    <a:p>
                      <a:pPr algn="l"/>
                      <a:r>
                        <a:rPr sz="850" b="1" i="0">
                          <a:solidFill>
                            <a:srgbClr val="FFFFFF"/>
                          </a:solidFill>
                          <a:latin typeface="Calibri"/>
                        </a:rPr>
                        <a:t>Product Factory – Focus for 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502920">
                <a:tc>
                  <a:txBody>
                    <a:bodyPr wrap="square"/>
                    <a:lstStyle/>
                    <a:p>
                      <a:pPr>
                        <a:spcBef>
                          <a:spcPts val="0"/>
                        </a:spcBef>
                        <a:spcAft>
                          <a:spcPts val="250"/>
                        </a:spcAft>
                      </a:pPr>
                      <a:r>
                        <a:rPr sz="750" b="1">
                          <a:solidFill>
                            <a:srgbClr val="1E40AF"/>
                          </a:solidFill>
                          <a:latin typeface="Calibri"/>
                        </a:rPr>
                        <a:t>• </a:t>
                      </a:r>
                      <a:r>
                        <a:rPr sz="750" b="1">
                          <a:solidFill>
                            <a:srgbClr val="1E293B"/>
                          </a:solidFill>
                          <a:latin typeface="Calibri"/>
                        </a:rPr>
                        <a:t>Inland Marine: </a:t>
                      </a:r>
                      <a:r>
                        <a:rPr sz="750">
                          <a:solidFill>
                            <a:srgbClr val="1E293B"/>
                          </a:solidFill>
                          <a:latin typeface="Calibri"/>
                        </a:rPr>
                        <a:t>Finalize Product Model design across coverage parts; conduct business alignment sessions.</a:t>
                      </a:r>
                    </a:p>
                    <a:p>
                      <a:pPr>
                        <a:spcBef>
                          <a:spcPts val="0"/>
                        </a:spcBef>
                        <a:spcAft>
                          <a:spcPts val="250"/>
                        </a:spcAft>
                      </a:pPr>
                      <a:r>
                        <a:rPr sz="750" b="1">
                          <a:solidFill>
                            <a:srgbClr val="1E40AF"/>
                          </a:solidFill>
                          <a:latin typeface="Calibri"/>
                        </a:rPr>
                        <a:t>• </a:t>
                      </a:r>
                      <a:r>
                        <a:rPr sz="750" b="1">
                          <a:solidFill>
                            <a:srgbClr val="1E293B"/>
                          </a:solidFill>
                          <a:latin typeface="Calibri"/>
                        </a:rPr>
                        <a:t>Forms Audit: </a:t>
                      </a:r>
                      <a:r>
                        <a:rPr sz="750">
                          <a:solidFill>
                            <a:srgbClr val="1E293B"/>
                          </a:solidFill>
                          <a:latin typeface="Calibri"/>
                        </a:rPr>
                        <a:t>Initiate Check #2 analysis (Guidewire comparison) post verification of data extraction accuracy.</a:t>
                      </a:r>
                    </a:p>
                    <a:p>
                      <a:pPr>
                        <a:spcBef>
                          <a:spcPts val="0"/>
                        </a:spcBef>
                        <a:spcAft>
                          <a:spcPts val="0"/>
                        </a:spcAft>
                      </a:pPr>
                      <a:r>
                        <a:rPr sz="750" b="1">
                          <a:solidFill>
                            <a:srgbClr val="1E40AF"/>
                          </a:solidFill>
                          <a:latin typeface="Calibri"/>
                        </a:rPr>
                        <a:t>• </a:t>
                      </a:r>
                      <a:r>
                        <a:rPr sz="750" b="1">
                          <a:solidFill>
                            <a:srgbClr val="1E293B"/>
                          </a:solidFill>
                          <a:latin typeface="Calibri"/>
                        </a:rPr>
                        <a:t>MM Excess Casualty &amp; Signature Property: </a:t>
                      </a:r>
                      <a:r>
                        <a:rPr sz="750">
                          <a:solidFill>
                            <a:srgbClr val="1E293B"/>
                          </a:solidFill>
                          <a:latin typeface="Calibri"/>
                        </a:rPr>
                        <a:t>Continue ongoing mobilization support and validation with dev &amp; QA factories.</a:t>
                      </a:r>
                    </a:p>
                  </a:txBody>
                  <a:tcPr marT="27432" marB="27432" marL="54864" marR="54864">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2066543"/>
          <a:ext cx="5440680" cy="2423160"/>
        </p:xfrm>
        <a:graphic>
          <a:graphicData uri="http://schemas.openxmlformats.org/drawingml/2006/table">
            <a:tbl>
              <a:tblPr firstRow="1" bandRow="1">
                <a:tableStyleId>{5C22544A-7EE6-4342-B048-85BDC9FD1C3A}</a:tableStyleId>
              </a:tblPr>
              <a:tblGrid>
                <a:gridCol w="1005840"/>
                <a:gridCol w="1472184"/>
                <a:gridCol w="1508760"/>
                <a:gridCol w="1453896"/>
              </a:tblGrid>
              <a:tr h="484632">
                <a:tc>
                  <a:txBody>
                    <a:bodyPr wrap="square"/>
                    <a:lstStyle/>
                    <a:p>
                      <a:pPr algn="l"/>
                      <a:r>
                        <a:rPr sz="850" b="1" i="0">
                          <a:solidFill>
                            <a:srgbClr val="FFFFFF"/>
                          </a:solidFill>
                          <a:latin typeface="Calibri"/>
                        </a:rPr>
                        <a:t>Key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484632">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Finalized dynamic endorsement form data mapping &amp; Xpath requirements (154 dynamic forms scoped).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Dynamic Part 6 endorsements (51 forms) &amp; dynamic Declarations; EPDS &amp; SmartCOMM sync ongoing.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QA on 90% of Oct 2 release items; regression testing on SmartCOMM endorsement parts 2, 3, 5 complete.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484632">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specs for Policy Number Generation, Auto Granularity-1, Policy Review &amp; Payments; Cancellation in progress.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Completed Modifiers, Product Model-1, Forms Support-2, and Rating Support-1; Line Level &amp; Pricing screens in dev.</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Executing test cases on Product Model clauses and Underlying Limits (UL) schedule screens.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84632">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Supported rating workshops and gathered rating requirements for new Auto granularity rating on MM Excess Casualty.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Developed Auto XS Layer, Terrorism Premium, Commission/Acquisition, and SIR capabilities; final premium algos in dev.</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validation of Support Card &amp; GL class code rate tables; testing terrorism premium and auto exp mod calculations.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484632">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Finalized 300+ form requirements across Primary/Excess Casualty and Energy; dynamic endorsement specs under review.</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Completed form # and name validations, display form number with clause names Part II across Casualty &amp; Energy.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Resolved UAT observations for August &amp; September releases; completed 90% of Oct 2 release form verifications.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10" name="Table 9"/>
          <p:cNvGraphicFramePr>
            <a:graphicFrameLocks noGrp="1"/>
          </p:cNvGraphicFramePr>
          <p:nvPr/>
        </p:nvGraphicFramePr>
        <p:xfrm>
          <a:off x="6199632" y="2066543"/>
          <a:ext cx="5440680" cy="2423160"/>
        </p:xfrm>
        <a:graphic>
          <a:graphicData uri="http://schemas.openxmlformats.org/drawingml/2006/table">
            <a:tbl>
              <a:tblPr firstRow="1" bandRow="1">
                <a:tableStyleId>{5C22544A-7EE6-4342-B048-85BDC9FD1C3A}</a:tableStyleId>
              </a:tblPr>
              <a:tblGrid>
                <a:gridCol w="1005840"/>
                <a:gridCol w="1472184"/>
                <a:gridCol w="1508760"/>
                <a:gridCol w="1453896"/>
              </a:tblGrid>
              <a:tr h="484632">
                <a:tc>
                  <a:txBody>
                    <a:bodyPr wrap="square"/>
                    <a:lstStyle/>
                    <a:p>
                      <a:pPr algn="l"/>
                      <a:r>
                        <a:rPr sz="850" b="1" i="0">
                          <a:solidFill>
                            <a:srgbClr val="FFFFFF"/>
                          </a:solidFill>
                          <a:latin typeface="Calibri"/>
                        </a:rPr>
                        <a:t>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484632">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 requirement gathering for WINS and Netreveal integration points.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Deliver development implementation of WINS integration and finalize SmartCOMM Part 7 endorsement builds.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Verify UAT feedback for contract data sync and wholesale salesflow reporting; close pending Pilot issues.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484632">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 Sprint-13 planned requirement cards (Cancellation/Reinstatement, Quick Quote, Autogranularity Part 2).</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Continue build for Community Model, Product Model Rules Part 2, and Line Level Pricing screens.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 remaining Oct 2 validation items and initiate testing on Oct 30 release test cases.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484632">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Review all rating materials and artifacts to support Define rating sessions for Inland Marine &amp; Excess Casualty.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Deliver Sprint-15 planned items: Final Selected Premium adjustments, Crisis Management, and Min/Max cards.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Test rating routines for post-bind transactions, unsupported flow, and Quota Share calculations.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484632">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Initiate Check #2 analysis for Forms Audit and finalize requirements for October release items.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 remaining dynamic endorsement Xpaths and address upcoming UAT issue fixes for Casualty &amp; Energy.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Execute end-to-end testing for Oct 16 SmartCOMM release items and pilot issue closures.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11" name="Table 10"/>
          <p:cNvGraphicFramePr>
            <a:graphicFrameLocks noGrp="1"/>
          </p:cNvGraphicFramePr>
          <p:nvPr/>
        </p:nvGraphicFramePr>
        <p:xfrm>
          <a:off x="548640" y="4617720"/>
          <a:ext cx="11094415" cy="1783080"/>
        </p:xfrm>
        <a:graphic>
          <a:graphicData uri="http://schemas.openxmlformats.org/drawingml/2006/table">
            <a:tbl>
              <a:tblPr firstRow="1" bandRow="1">
                <a:tableStyleId>{5C22544A-7EE6-4342-B048-85BDC9FD1C3A}</a:tableStyleId>
              </a:tblPr>
              <a:tblGrid>
                <a:gridCol w="1920240"/>
                <a:gridCol w="3840480"/>
                <a:gridCol w="1188720"/>
                <a:gridCol w="1005840"/>
                <a:gridCol w="3139135"/>
              </a:tblGrid>
              <a:tr h="356616">
                <a:tc>
                  <a:txBody>
                    <a:bodyPr wrap="square"/>
                    <a:lstStyle/>
                    <a:p>
                      <a:pPr algn="l"/>
                      <a:r>
                        <a:rPr sz="850" b="1" i="0">
                          <a:solidFill>
                            <a:srgbClr val="FFFFFF"/>
                          </a:solidFill>
                          <a:latin typeface="Calibri"/>
                        </a:rPr>
                        <a:t>Key Risk / Watchout Item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Description &amp; Functional Impact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Impact Category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Action Mitigation Plan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6616">
                <a:tc>
                  <a:txBody>
                    <a:bodyPr wrap="square"/>
                    <a:lstStyle/>
                    <a:p>
                      <a:pPr algn="l"/>
                      <a:r>
                        <a:rPr sz="750" b="1" i="0">
                          <a:solidFill>
                            <a:srgbClr val="1E293B"/>
                          </a:solidFill>
                          <a:latin typeface="Calibri"/>
                        </a:rPr>
                        <a:t>Final Selected Premium Calculation (Reference)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Complex rate routine calculation logic for excess layers finalized and validated.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ctr"/>
                      <a:r>
                        <a:rPr sz="750" b="0" i="0">
                          <a:solidFill>
                            <a:srgbClr val="1E293B"/>
                          </a:solidFill>
                          <a:latin typeface="Calibri"/>
                        </a:rPr>
                        <a:t>Technical Risk</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l"/>
                      <a:r>
                        <a:rPr sz="750" b="0" i="0">
                          <a:solidFill>
                            <a:srgbClr val="1E293B"/>
                          </a:solidFill>
                          <a:latin typeface="Calibri"/>
                        </a:rPr>
                        <a:t>Architectural review completed with Guidewire team; rate routine logic finalized.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Enhance – Project Status Report</a:t>
            </a:r>
          </a:p>
          <a:p>
            <a:pPr>
              <a:defRPr sz="950">
                <a:solidFill>
                  <a:srgbClr val="64748B"/>
                </a:solidFill>
                <a:latin typeface="Calibri"/>
              </a:defRPr>
            </a:pPr>
            <a:r>
              <a:t>Functional Progress across Integration, Configuration, Rating &amp; Forms | Lead: Shamanth</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Stream: Enhance</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3 of 5</a:t>
            </a:r>
          </a:p>
        </p:txBody>
      </p:sp>
      <p:graphicFrame>
        <p:nvGraphicFramePr>
          <p:cNvPr id="7" name="Table 6"/>
          <p:cNvGraphicFramePr>
            <a:graphicFrameLocks noGrp="1"/>
          </p:cNvGraphicFramePr>
          <p:nvPr/>
        </p:nvGraphicFramePr>
        <p:xfrm>
          <a:off x="548640"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Key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requirements for WINS Integration, Systemic Risk elements, and Salesflow submission statuses.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EPDS contract data sync, Harta integration, wholesale salesflow reports, and WC/CA exposure reports.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Completed dev and QA for Data Studio enhancements, mock dashboards, and WC accumulation; pending UAT signoff.</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requirements for WC AXICA (4.9), Enable Final Audit (CA), and Producer Name/Code updates.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Completed Premium Allocation policy change and MM Environmental Clauses; RRL phase config changes in progress.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Verified Producer Code updates and Environmental clause enablement across MM products.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WC AXICA Phase 9 Rating, Manual Premium (not subject to mods), and TLR updates across all LOBs.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Raised Guidewire incident for Non-STD term proration (SBT fix) and holding regular syncs with GW team.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Verified manual premium calculation rules and rate table updates in current sprint test environment.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Completed analysis for Endorsement numbering logic (4.9) and international location 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Expired CUU legacy forms (4.7); deferred composite rates on QP/BP and ENV clauses to 4.9.</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Documents and forms audit Part 2 under business review; QA testing on retired form versions completed.</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6199632"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Complete requirement gathering on WINS and Netreveal integrations.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Implement development of WINS integration and complete Harta UAT feedback updates.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Complete UAT signoff on EPDS contract data sync and wholesale salesflow reporting.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 requirements for International Property Locations and CP Premium Allocation (4.10).</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Enable Final Audit capabilities for WC based on UAT feedback; enable Property International locations.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Validate WC Final Audit workflow in sprint regression testing.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Reconcile Guidewire SBT fix directions for non-standard term proration.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Plan to close all in-progress rating calculation items and SBT incident workarounds.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Execute rating regression test pack across active MM commercial policies.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Finalize renewal term number update specifications and Forms Audit scope.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Implement CP international location forms and update renewal term numbering logic.</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Complete Forms Audit verification and support regression testing for upcoming releases.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4617720"/>
          <a:ext cx="11094415" cy="1783080"/>
        </p:xfrm>
        <a:graphic>
          <a:graphicData uri="http://schemas.openxmlformats.org/drawingml/2006/table">
            <a:tbl>
              <a:tblPr firstRow="1" bandRow="1">
                <a:tableStyleId>{5C22544A-7EE6-4342-B048-85BDC9FD1C3A}</a:tableStyleId>
              </a:tblPr>
              <a:tblGrid>
                <a:gridCol w="1920240"/>
                <a:gridCol w="3840480"/>
                <a:gridCol w="1188720"/>
                <a:gridCol w="1005840"/>
                <a:gridCol w="3139135"/>
              </a:tblGrid>
              <a:tr h="356616">
                <a:tc>
                  <a:txBody>
                    <a:bodyPr wrap="square"/>
                    <a:lstStyle/>
                    <a:p>
                      <a:pPr algn="l"/>
                      <a:r>
                        <a:rPr sz="850" b="1" i="0">
                          <a:solidFill>
                            <a:srgbClr val="FFFFFF"/>
                          </a:solidFill>
                          <a:latin typeface="Calibri"/>
                        </a:rPr>
                        <a:t>Key Risk / Watchout Item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Description &amp; Functional Impact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Impact Category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Action Mitigation Plan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6616">
                <a:tc>
                  <a:txBody>
                    <a:bodyPr wrap="square"/>
                    <a:lstStyle/>
                    <a:p>
                      <a:pPr algn="l"/>
                      <a:r>
                        <a:rPr sz="750" b="1" i="0">
                          <a:solidFill>
                            <a:srgbClr val="1E293B"/>
                          </a:solidFill>
                          <a:latin typeface="Calibri"/>
                        </a:rPr>
                        <a:t>Non-Standard Term Proration - SBT Fix (Reference)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Guidewire proration workaround implemented and aligned with SBT fix guidelines.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ctr"/>
                      <a:r>
                        <a:rPr sz="750" b="0" i="0">
                          <a:solidFill>
                            <a:srgbClr val="1E293B"/>
                          </a:solidFill>
                          <a:latin typeface="Calibri"/>
                        </a:rPr>
                        <a:t>Technical Issue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ctr"/>
                      <a:r>
                        <a:rPr sz="750" b="1" i="0">
                          <a:solidFill>
                            <a:srgbClr val="15803D"/>
                          </a:solidFill>
                          <a:latin typeface="Calibri"/>
                        </a:rPr>
                        <a:t>🟢 GREEN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DCFCE7"/>
                    </a:solidFill>
                  </a:tcPr>
                </a:tc>
                <a:tc>
                  <a:txBody>
                    <a:bodyPr wrap="square"/>
                    <a:lstStyle/>
                    <a:p>
                      <a:pPr algn="l"/>
                      <a:r>
                        <a:rPr sz="750" b="0" i="0">
                          <a:solidFill>
                            <a:srgbClr val="1E293B"/>
                          </a:solidFill>
                          <a:latin typeface="Calibri"/>
                        </a:rPr>
                        <a:t>Guidewire workaround in place; SBT directions confirmed and validated in sprint test cycle.</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Signature Property – Project Status Report</a:t>
            </a:r>
          </a:p>
          <a:p>
            <a:pPr>
              <a:defRPr sz="950">
                <a:solidFill>
                  <a:srgbClr val="64748B"/>
                </a:solidFill>
                <a:latin typeface="Calibri"/>
              </a:defRPr>
            </a:pPr>
            <a:r>
              <a:t>Commercial Property Capability Track | Delivery Lead: Shanu Jyothi</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Stream: Signature Property</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4 of 5</a:t>
            </a:r>
          </a:p>
        </p:txBody>
      </p:sp>
      <p:graphicFrame>
        <p:nvGraphicFramePr>
          <p:cNvPr id="7" name="Table 6"/>
          <p:cNvGraphicFramePr>
            <a:graphicFrameLocks noGrp="1"/>
          </p:cNvGraphicFramePr>
          <p:nvPr/>
        </p:nvGraphicFramePr>
        <p:xfrm>
          <a:off x="548640"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Key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6199632"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4617720"/>
          <a:ext cx="11094415" cy="1783080"/>
        </p:xfrm>
        <a:graphic>
          <a:graphicData uri="http://schemas.openxmlformats.org/drawingml/2006/table">
            <a:tbl>
              <a:tblPr firstRow="1" bandRow="1">
                <a:tableStyleId>{5C22544A-7EE6-4342-B048-85BDC9FD1C3A}</a:tableStyleId>
              </a:tblPr>
              <a:tblGrid>
                <a:gridCol w="1920240"/>
                <a:gridCol w="3840480"/>
                <a:gridCol w="1188720"/>
                <a:gridCol w="1005840"/>
                <a:gridCol w="3139135"/>
              </a:tblGrid>
              <a:tr h="356616">
                <a:tc>
                  <a:txBody>
                    <a:bodyPr wrap="square"/>
                    <a:lstStyle/>
                    <a:p>
                      <a:pPr algn="l"/>
                      <a:r>
                        <a:rPr sz="850" b="1" i="0">
                          <a:solidFill>
                            <a:srgbClr val="FFFFFF"/>
                          </a:solidFill>
                          <a:latin typeface="Calibri"/>
                        </a:rPr>
                        <a:t>Key Risk / Watchout Item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Description &amp; Functional Impact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Impact Category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Action Mitigation Plan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28600"/>
            <a:ext cx="11094415" cy="36576"/>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680960" cy="594360"/>
          </a:xfrm>
          <a:prstGeom prst="rect">
            <a:avLst/>
          </a:prstGeom>
          <a:noFill/>
        </p:spPr>
        <p:txBody>
          <a:bodyPr wrap="square" lIns="0" tIns="0" rIns="0" bIns="0">
            <a:spAutoFit/>
          </a:bodyPr>
          <a:lstStyle/>
          <a:p>
            <a:pPr>
              <a:defRPr sz="1700" b="1">
                <a:solidFill>
                  <a:srgbClr val="1B365D"/>
                </a:solidFill>
                <a:latin typeface="Calibri"/>
              </a:defRPr>
            </a:pPr>
            <a:r>
              <a:t>AMS – Project Status Report</a:t>
            </a:r>
          </a:p>
          <a:p>
            <a:pPr>
              <a:defRPr sz="950">
                <a:solidFill>
                  <a:srgbClr val="64748B"/>
                </a:solidFill>
                <a:latin typeface="Calibri"/>
              </a:defRPr>
            </a:pPr>
            <a:r>
              <a:t>Application Management Services &amp; Production Support | Delivery Lead: Swetlana</a:t>
            </a:r>
          </a:p>
        </p:txBody>
      </p:sp>
      <p:pic>
        <p:nvPicPr>
          <p:cNvPr id="4" name="Picture 3" descr="deloitte_logo.png"/>
          <p:cNvPicPr>
            <a:picLocks noChangeAspect="1"/>
          </p:cNvPicPr>
          <p:nvPr/>
        </p:nvPicPr>
        <p:blipFill>
          <a:blip r:embed="rId2"/>
          <a:stretch>
            <a:fillRect/>
          </a:stretch>
        </p:blipFill>
        <p:spPr>
          <a:xfrm>
            <a:off x="8503920" y="384048"/>
            <a:ext cx="1110343" cy="274320"/>
          </a:xfrm>
          <a:prstGeom prst="rect">
            <a:avLst/>
          </a:prstGeom>
        </p:spPr>
      </p:pic>
      <p:sp>
        <p:nvSpPr>
          <p:cNvPr id="5" name="Rounded Rectangle 4"/>
          <p:cNvSpPr/>
          <p:nvPr/>
        </p:nvSpPr>
        <p:spPr>
          <a:xfrm>
            <a:off x="9784080" y="365760"/>
            <a:ext cx="1858975" cy="329184"/>
          </a:xfrm>
          <a:prstGeom prst="roundRect">
            <a:avLst/>
          </a:prstGeom>
          <a:solidFill>
            <a:srgbClr val="EEF2F6"/>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00" b="1">
                <a:solidFill>
                  <a:srgbClr val="1B365D"/>
                </a:solidFill>
                <a:latin typeface="Calibri"/>
              </a:rPr>
              <a:t>Stream: AMS</a:t>
            </a:r>
          </a:p>
        </p:txBody>
      </p:sp>
      <p:sp>
        <p:nvSpPr>
          <p:cNvPr id="6" name="TextBox 5"/>
          <p:cNvSpPr txBox="1"/>
          <p:nvPr/>
        </p:nvSpPr>
        <p:spPr>
          <a:xfrm>
            <a:off x="548640" y="6537960"/>
            <a:ext cx="11094415" cy="228600"/>
          </a:xfrm>
          <a:prstGeom prst="rect">
            <a:avLst/>
          </a:prstGeom>
          <a:noFill/>
        </p:spPr>
        <p:txBody>
          <a:bodyPr wrap="none" lIns="0" tIns="0" rIns="0" bIns="0">
            <a:spAutoFit/>
          </a:bodyPr>
          <a:lstStyle/>
          <a:p>
            <a:r>
              <a:rPr sz="750">
                <a:solidFill>
                  <a:srgbClr val="64748B"/>
                </a:solidFill>
                <a:latin typeface="Calibri"/>
              </a:rPr>
              <a:t>AXA XL Commercial PAS Program | Deloitte Delivery Team | Internal Circulation Only</a:t>
            </a:r>
            <a:r>
              <a:rPr sz="750" b="1">
                <a:solidFill>
                  <a:srgbClr val="64748B"/>
                </a:solidFill>
                <a:latin typeface="Calibri"/>
              </a:rPr>
              <a:t>                                                                                               Slide 5 of 5</a:t>
            </a:r>
          </a:p>
        </p:txBody>
      </p:sp>
      <p:graphicFrame>
        <p:nvGraphicFramePr>
          <p:cNvPr id="7" name="Table 6"/>
          <p:cNvGraphicFramePr>
            <a:graphicFrameLocks noGrp="1"/>
          </p:cNvGraphicFramePr>
          <p:nvPr/>
        </p:nvGraphicFramePr>
        <p:xfrm>
          <a:off x="548640"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Key Highlights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8" name="Table 7"/>
          <p:cNvGraphicFramePr>
            <a:graphicFrameLocks noGrp="1"/>
          </p:cNvGraphicFramePr>
          <p:nvPr/>
        </p:nvGraphicFramePr>
        <p:xfrm>
          <a:off x="6199632" y="1005840"/>
          <a:ext cx="5440680" cy="3474720"/>
        </p:xfrm>
        <a:graphic>
          <a:graphicData uri="http://schemas.openxmlformats.org/drawingml/2006/table">
            <a:tbl>
              <a:tblPr firstRow="1" bandRow="1">
                <a:tableStyleId>{5C22544A-7EE6-4342-B048-85BDC9FD1C3A}</a:tableStyleId>
              </a:tblPr>
              <a:tblGrid>
                <a:gridCol w="960120"/>
                <a:gridCol w="1490472"/>
                <a:gridCol w="1527048"/>
                <a:gridCol w="1463040"/>
              </a:tblGrid>
              <a:tr h="694944">
                <a:tc>
                  <a:txBody>
                    <a:bodyPr wrap="square"/>
                    <a:lstStyle/>
                    <a:p>
                      <a:pPr algn="l"/>
                      <a:r>
                        <a:rPr sz="850" b="1" i="0">
                          <a:solidFill>
                            <a:srgbClr val="FFFFFF"/>
                          </a:solidFill>
                          <a:latin typeface="Calibri"/>
                        </a:rPr>
                        <a:t>Next 2 Weeks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Requirement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Development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c>
                  <a:txBody>
                    <a:bodyPr wrap="square"/>
                    <a:lstStyle/>
                    <a:p>
                      <a:pPr algn="ctr"/>
                      <a:r>
                        <a:rPr sz="850" b="1" i="0">
                          <a:solidFill>
                            <a:srgbClr val="FFFFFF"/>
                          </a:solidFill>
                          <a:latin typeface="Calibri"/>
                        </a:rPr>
                        <a:t>QA</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E40AF"/>
                    </a:solidFill>
                  </a:tcPr>
                </a:tc>
              </a:tr>
              <a:tr h="694944">
                <a:tc>
                  <a:txBody>
                    <a:bodyPr wrap="square"/>
                    <a:lstStyle/>
                    <a:p>
                      <a:pPr algn="l"/>
                      <a:r>
                        <a:rPr sz="800" b="1" i="0">
                          <a:solidFill>
                            <a:srgbClr val="1E293B"/>
                          </a:solidFill>
                          <a:latin typeface="Calibri"/>
                        </a:rPr>
                        <a:t>Integration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Configuration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694944">
                <a:tc>
                  <a:txBody>
                    <a:bodyPr wrap="square"/>
                    <a:lstStyle/>
                    <a:p>
                      <a:pPr algn="l"/>
                      <a:r>
                        <a:rPr sz="800" b="1" i="0">
                          <a:solidFill>
                            <a:srgbClr val="1E293B"/>
                          </a:solidFill>
                          <a:latin typeface="Calibri"/>
                        </a:rPr>
                        <a:t>Rating</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694944">
                <a:tc>
                  <a:txBody>
                    <a:bodyPr wrap="square"/>
                    <a:lstStyle/>
                    <a:p>
                      <a:pPr algn="l"/>
                      <a:r>
                        <a:rPr sz="800" b="1" i="0">
                          <a:solidFill>
                            <a:srgbClr val="1E293B"/>
                          </a:solidFill>
                          <a:latin typeface="Calibri"/>
                        </a:rPr>
                        <a:t>Forms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EEF2F6"/>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graphicFrame>
        <p:nvGraphicFramePr>
          <p:cNvPr id="9" name="Table 8"/>
          <p:cNvGraphicFramePr>
            <a:graphicFrameLocks noGrp="1"/>
          </p:cNvGraphicFramePr>
          <p:nvPr/>
        </p:nvGraphicFramePr>
        <p:xfrm>
          <a:off x="548640" y="4617720"/>
          <a:ext cx="11094415" cy="1783080"/>
        </p:xfrm>
        <a:graphic>
          <a:graphicData uri="http://schemas.openxmlformats.org/drawingml/2006/table">
            <a:tbl>
              <a:tblPr firstRow="1" bandRow="1">
                <a:tableStyleId>{5C22544A-7EE6-4342-B048-85BDC9FD1C3A}</a:tableStyleId>
              </a:tblPr>
              <a:tblGrid>
                <a:gridCol w="1920240"/>
                <a:gridCol w="3840480"/>
                <a:gridCol w="1188720"/>
                <a:gridCol w="1005840"/>
                <a:gridCol w="3139135"/>
              </a:tblGrid>
              <a:tr h="356616">
                <a:tc>
                  <a:txBody>
                    <a:bodyPr wrap="square"/>
                    <a:lstStyle/>
                    <a:p>
                      <a:pPr algn="l"/>
                      <a:r>
                        <a:rPr sz="850" b="1" i="0">
                          <a:solidFill>
                            <a:srgbClr val="FFFFFF"/>
                          </a:solidFill>
                          <a:latin typeface="Calibri"/>
                        </a:rPr>
                        <a:t>Key Risk / Watchout Item</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Description &amp; Functional Impact</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Impact Category</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ctr"/>
                      <a:r>
                        <a:rPr sz="850" b="1" i="0">
                          <a:solidFill>
                            <a:srgbClr val="FFFFFF"/>
                          </a:solidFill>
                          <a:latin typeface="Calibri"/>
                        </a:rPr>
                        <a:t>Status</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c>
                  <a:txBody>
                    <a:bodyPr wrap="square"/>
                    <a:lstStyle/>
                    <a:p>
                      <a:pPr algn="l"/>
                      <a:r>
                        <a:rPr sz="850" b="1" i="0">
                          <a:solidFill>
                            <a:srgbClr val="FFFFFF"/>
                          </a:solidFill>
                          <a:latin typeface="Calibri"/>
                        </a:rPr>
                        <a:t>Action Mitigation Plan</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1B365D"/>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8FAFC"/>
                    </a:solidFill>
                  </a:tcPr>
                </a:tc>
              </a:tr>
              <a:tr h="356616">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c>
                  <a:txBody>
                    <a:bodyPr wrap="square"/>
                    <a:lstStyle/>
                    <a:p>
                      <a:pPr algn="l"/>
                      <a:r>
                        <a:rPr sz="750" b="0" i="0">
                          <a:solidFill>
                            <a:srgbClr val="1E293B"/>
                          </a:solidFill>
                          <a:latin typeface="Calibri"/>
                        </a:rPr>
                        <a:t/>
                      </a:r>
                    </a:p>
                  </a:txBody>
                  <a:tcPr marT="27432" marB="27432" marL="45720" marR="45720">
                    <a:lnL w="7000" cmpd="s">
                      <a:solidFill>
                        <a:srgbClr val="CBD5E1"/>
                      </a:solidFill>
                    </a:lnL>
                    <a:lnR w="7000" cmpd="s">
                      <a:solidFill>
                        <a:srgbClr val="CBD5E1"/>
                      </a:solidFill>
                    </a:lnR>
                    <a:lnT w="7000" cmpd="s">
                      <a:solidFill>
                        <a:srgbClr val="CBD5E1"/>
                      </a:solidFill>
                    </a:lnT>
                    <a:lnB w="7000" cmpd="s">
                      <a:solidFill>
                        <a:srgbClr val="CBD5E1"/>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